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9770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pic>
        <p:nvPicPr>
          <p:cNvPr id="3" name="Image 0" descr="/home/claude/sample_images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B1426">
              <a:alpha val="70000"/>
            </a:srgbClr>
          </a:solidFill>
          <a:ln w="12700">
            <a:solidFill>
              <a:srgbClr val="0B1426">
                <a:alpha val="7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5486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365760" y="10972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Scene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365760" y="17373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365760" y="2423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ResNet-18 &amp; EuroSAT Dataset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65760" y="2880360"/>
            <a:ext cx="4114800" cy="0"/>
          </a:xfrm>
          <a:prstGeom prst="line">
            <a:avLst/>
          </a:prstGeom>
          <a:noFill/>
          <a:ln w="19050">
            <a:solidFill>
              <a:srgbClr val="00D4A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306324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0"/>
                </a:solidFill>
              </a:rPr>
              <a:t>Team: </a:t>
            </a:r>
            <a:r>
              <a:rPr lang="en-US" sz="1300" dirty="0">
                <a:solidFill>
                  <a:srgbClr val="CBD5E0"/>
                </a:solidFill>
              </a:rPr>
              <a:t>fidalgovind  |  Adithyan Biju  |  Archana 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340156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0"/>
                </a:solidFill>
              </a:rPr>
              <a:t>Course: </a:t>
            </a:r>
            <a:r>
              <a:rPr lang="en-US" sz="1300" dirty="0">
                <a:solidFill>
                  <a:srgbClr val="CBD5E0"/>
                </a:solidFill>
              </a:rPr>
              <a:t>Predictive Analytics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5760" y="373075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0"/>
                </a:solidFill>
              </a:rPr>
              <a:t>Dataset: </a:t>
            </a:r>
            <a:r>
              <a:rPr lang="en-US" sz="1300" dirty="0">
                <a:solidFill>
                  <a:srgbClr val="CBD5E0"/>
                </a:solidFill>
              </a:rPr>
              <a:t>EuroSAT  |  16,200 images  |  10 classes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65760" y="443484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627"/>
                </a:solidFill>
              </a:rPr>
              <a:t>Accuracy: </a:t>
            </a:r>
            <a:r>
              <a:rPr lang="en-US" sz="2000" b="1" dirty="0">
                <a:solidFill>
                  <a:srgbClr val="FFB627"/>
                </a:solidFill>
              </a:rPr>
              <a:t>92.89%</a:t>
            </a:r>
            <a:r>
              <a:rPr lang="en-US" sz="1300" dirty="0">
                <a:solidFill>
                  <a:srgbClr val="CBD5E0"/>
                </a:solidFill>
              </a:rPr>
              <a:t>  |  Hamming Loss: 0.0711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340"/>
                </a:solidFill>
              </a:rPr>
              <a:t>Contents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24128"/>
            <a:ext cx="347472" cy="34747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24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0058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</a:rPr>
              <a:t>Problem Statement &amp; Motivation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47472" cy="34747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4904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</a:rPr>
              <a:t>Dataset — EuroSAT Overview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993392"/>
            <a:ext cx="347472" cy="347472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197510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</a:rPr>
              <a:t>Project Pipeline (10 Stages)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478024"/>
            <a:ext cx="347472" cy="347472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478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45973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</a:rPr>
              <a:t>Exploratory Data Analysis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2962656"/>
            <a:ext cx="347472" cy="347472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29443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</a:rPr>
              <a:t>Feature Engineering — NDVI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3447288"/>
            <a:ext cx="347472" cy="34747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447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34290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</a:rPr>
              <a:t>Data Preprocessing &amp; Augmentation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931920"/>
            <a:ext cx="347472" cy="34747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391363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</a:rPr>
              <a:t>Model Architecture — ResNet-18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480" y="4416552"/>
            <a:ext cx="347472" cy="34747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416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43982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</a:rPr>
              <a:t>Training Results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1024128"/>
            <a:ext cx="347472" cy="34747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1024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74920" y="10058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</a:rPr>
              <a:t>Model Evaluation &amp; Metrics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63440" y="1508760"/>
            <a:ext cx="347472" cy="34747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74920" y="149047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</a:rPr>
              <a:t>Confusion Matrix Analysis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63440" y="1993392"/>
            <a:ext cx="347472" cy="347472"/>
          </a:xfrm>
          <a:prstGeom prst="rect">
            <a:avLst/>
          </a:prstGeom>
          <a:solidFill>
            <a:srgbClr val="9F7AEA"/>
          </a:solidFill>
          <a:ln w="12700">
            <a:solidFill>
              <a:srgbClr val="9F7A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1993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74920" y="197510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</a:rPr>
              <a:t>Grad-CAM Explainability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63440" y="2478024"/>
            <a:ext cx="347472" cy="347472"/>
          </a:xfrm>
          <a:prstGeom prst="rect">
            <a:avLst/>
          </a:prstGeom>
          <a:solidFill>
            <a:srgbClr val="9F7AEA"/>
          </a:solidFill>
          <a:ln w="12700">
            <a:solidFill>
              <a:srgbClr val="9F7A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2478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74920" y="245973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</a:rPr>
              <a:t>Correct vs Wrong Predictions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663440" y="2962656"/>
            <a:ext cx="347472" cy="347472"/>
          </a:xfrm>
          <a:prstGeom prst="rect">
            <a:avLst/>
          </a:prstGeom>
          <a:solidFill>
            <a:srgbClr val="9F7AEA"/>
          </a:solidFill>
          <a:ln w="12700">
            <a:solidFill>
              <a:srgbClr val="9F7A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74920" y="29443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</a:rPr>
              <a:t>Streamlit Deployment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663440" y="3447288"/>
            <a:ext cx="347472" cy="34747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3447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074920" y="34290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</a:rPr>
              <a:t>Literature Review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663440" y="3931920"/>
            <a:ext cx="347472" cy="34747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15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074920" y="391363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</a:rPr>
              <a:t>Limitations &amp; Future Work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663440" y="4416552"/>
            <a:ext cx="347472" cy="347472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63440" y="4416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16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74920" y="43982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</a:rPr>
              <a:t>Conclusion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56032"/>
          </a:xfrm>
          <a:prstGeom prst="roundRect">
            <a:avLst>
              <a:gd name="adj" fmla="val 35714"/>
            </a:avLst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PROBLEM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Are We Solving?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BD5E0"/>
                </a:solidFill>
              </a:rPr>
              <a:t>Classify 64×64 satellite image patches from Sentinel-2 into 10 distinct land-use categories using deep learning.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965960"/>
            <a:ext cx="2743200" cy="1234440"/>
          </a:xfrm>
          <a:prstGeom prst="rect">
            <a:avLst/>
          </a:prstGeom>
          <a:solidFill>
            <a:srgbClr val="162040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0756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🌆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A0"/>
                </a:solidFill>
              </a:rPr>
              <a:t>Urban Planning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6974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</a:rPr>
              <a:t>Track city growth and infrastructure expansion over time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1965960"/>
            <a:ext cx="2743200" cy="1234440"/>
          </a:xfrm>
          <a:prstGeom prst="rect">
            <a:avLst/>
          </a:prstGeom>
          <a:solidFill>
            <a:srgbClr val="162040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20756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🌲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3756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A0"/>
                </a:solidFill>
              </a:rPr>
              <a:t>Deforestation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26974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</a:rPr>
              <a:t>Monitor forest cover loss for environmental protection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63640" y="1965960"/>
            <a:ext cx="2743200" cy="1234440"/>
          </a:xfrm>
          <a:prstGeom prst="rect">
            <a:avLst/>
          </a:prstGeom>
          <a:solidFill>
            <a:srgbClr val="162040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20756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🌊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6364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A0"/>
                </a:solidFill>
              </a:rPr>
              <a:t>Flood Detection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269748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</a:rPr>
              <a:t>Identify water bodies and flood-risk zones rapidly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383280"/>
            <a:ext cx="2743200" cy="1234440"/>
          </a:xfrm>
          <a:prstGeom prst="rect">
            <a:avLst/>
          </a:prstGeom>
          <a:solidFill>
            <a:srgbClr val="162040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49300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🌾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1148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A0"/>
                </a:solidFill>
              </a:rPr>
              <a:t>Agriculture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41148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</a:rPr>
              <a:t>Monitor crop health and land productivity at scale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37560" y="3383280"/>
            <a:ext cx="2743200" cy="1234440"/>
          </a:xfrm>
          <a:prstGeom prst="rect">
            <a:avLst/>
          </a:prstGeom>
          <a:solidFill>
            <a:srgbClr val="162040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49300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🏭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33756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A0"/>
                </a:solidFill>
              </a:rPr>
              <a:t>Industrial Watch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29000" y="411480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</a:rPr>
              <a:t>Track industrial zones for regulatory compliance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oundRect">
            <a:avLst>
              <a:gd name="adj" fmla="val 35714"/>
            </a:avLst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DATASET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</a:rPr>
              <a:t>EuroSAT Dataset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554480" cy="82296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16,200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Total Images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48840" y="1188720"/>
            <a:ext cx="1554480" cy="82296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118872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48840" y="162763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Land-Use Classes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0" y="1188720"/>
            <a:ext cx="1554480" cy="82296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118872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64×64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40480" y="162763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Pixels per Patch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32120" y="1188720"/>
            <a:ext cx="1554480" cy="82296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118872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32120" y="162763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Spectral Bands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23760" y="1188720"/>
            <a:ext cx="1554480" cy="82296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118872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Sentinel-2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23760" y="162763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Satellite Source</a:t>
            </a:r>
            <a:endParaRPr lang="en-US" sz="900" dirty="0"/>
          </a:p>
        </p:txBody>
      </p:sp>
      <p:pic>
        <p:nvPicPr>
          <p:cNvPr id="20" name="Image 0" descr="/home/claude/sample_im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148840"/>
            <a:ext cx="84124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oundRect">
            <a:avLst>
              <a:gd name="adj" fmla="val 35714"/>
            </a:avLst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</a:rPr>
              <a:t>Project Pipeline — 10 Stages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554480" cy="14630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63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Problem Definition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20240" y="2039112"/>
            <a:ext cx="15544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75688" y="1325880"/>
            <a:ext cx="1554480" cy="14630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75688" y="1463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121408" y="19202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Data Collection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30168" y="2039112"/>
            <a:ext cx="15544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85616" y="1325880"/>
            <a:ext cx="1554480" cy="146304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85616" y="1463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831336" y="19202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Preprocessing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40096" y="2039112"/>
            <a:ext cx="15544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95544" y="1325880"/>
            <a:ext cx="1554480" cy="146304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95544" y="1463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541264" y="19202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EDA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50024" y="2039112"/>
            <a:ext cx="15544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05472" y="1325880"/>
            <a:ext cx="1554480" cy="146304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05472" y="1463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05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251192" y="19202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Feature Engineering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017520"/>
            <a:ext cx="1554480" cy="146304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154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11480" y="36118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Model Building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920240" y="3730752"/>
            <a:ext cx="15544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75688" y="3017520"/>
            <a:ext cx="1554480" cy="146304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75688" y="3154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07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2121408" y="36118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Model Evaluation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30168" y="3730752"/>
            <a:ext cx="15544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85616" y="3017520"/>
            <a:ext cx="1554480" cy="14630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85616" y="3154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08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3831336" y="36118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Explainability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340096" y="3730752"/>
            <a:ext cx="15544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95544" y="3017520"/>
            <a:ext cx="1554480" cy="1463040"/>
          </a:xfrm>
          <a:prstGeom prst="rect">
            <a:avLst/>
          </a:prstGeom>
          <a:solidFill>
            <a:srgbClr val="9F7AEA"/>
          </a:solidFill>
          <a:ln w="12700">
            <a:solidFill>
              <a:srgbClr val="9F7A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95544" y="3154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09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5541264" y="36118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050024" y="3730752"/>
            <a:ext cx="15544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05472" y="3017520"/>
            <a:ext cx="1554480" cy="14630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05472" y="3154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10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7251192" y="36118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Documentation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oundRect">
            <a:avLst>
              <a:gd name="adj" fmla="val 35714"/>
            </a:avLst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4 — EDA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</a:rPr>
              <a:t>Exploratory Data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40"/>
                </a:solidFill>
              </a:rPr>
              <a:t>Class Distribution</a:t>
            </a:r>
            <a:endParaRPr lang="en-US" sz="1400" dirty="0"/>
          </a:p>
        </p:txBody>
      </p:sp>
      <p:pic>
        <p:nvPicPr>
          <p:cNvPr id="6" name="Image 0" descr="/home/claude/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36192"/>
            <a:ext cx="530352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06440" y="11704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40"/>
                </a:solidFill>
              </a:rPr>
              <a:t>Key Observations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760720" y="1581912"/>
            <a:ext cx="54864" cy="347472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0" y="158191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E8"/>
                </a:solidFill>
              </a:rPr>
              <a:t>~1,200–1,863 </a:t>
            </a:r>
            <a:r>
              <a:rPr lang="en-US" sz="1100" dirty="0">
                <a:solidFill>
                  <a:srgbClr val="1A2340"/>
                </a:solidFill>
              </a:rPr>
              <a:t>images per class — well balanced dataset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60720" y="2148840"/>
            <a:ext cx="54864" cy="347472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21488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E8"/>
                </a:solidFill>
              </a:rPr>
              <a:t>Pasture </a:t>
            </a:r>
            <a:r>
              <a:rPr lang="en-US" sz="1100" dirty="0">
                <a:solidFill>
                  <a:srgbClr val="1A2340"/>
                </a:solidFill>
              </a:rPr>
              <a:t>has fewest samples (1,195)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60720" y="2715768"/>
            <a:ext cx="54864" cy="347472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0" y="271576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E8"/>
                </a:solidFill>
              </a:rPr>
              <a:t>Residential </a:t>
            </a:r>
            <a:r>
              <a:rPr lang="en-US" sz="1100" dirty="0">
                <a:solidFill>
                  <a:srgbClr val="1A2340"/>
                </a:solidFill>
              </a:rPr>
              <a:t>has most samples (1,863)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760720" y="3282696"/>
            <a:ext cx="54864" cy="347472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328269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E8"/>
                </a:solidFill>
              </a:rPr>
              <a:t>No class imbalance </a:t>
            </a:r>
            <a:r>
              <a:rPr lang="en-US" sz="1100" dirty="0">
                <a:solidFill>
                  <a:srgbClr val="1A2340"/>
                </a:solidFill>
              </a:rPr>
              <a:t>— equal training representation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36393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40"/>
                </a:solidFill>
              </a:rPr>
              <a:t>Mean Image Per Class</a:t>
            </a:r>
            <a:endParaRPr lang="en-US" sz="1400" dirty="0"/>
          </a:p>
        </p:txBody>
      </p:sp>
      <p:pic>
        <p:nvPicPr>
          <p:cNvPr id="17" name="Image 1" descr="/home/claude/mean_ima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931920"/>
            <a:ext cx="84124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oundRect">
            <a:avLst>
              <a:gd name="adj" fmla="val 35714"/>
            </a:avLst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5 — FEATURE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NDVI — Vegetation Index</a:t>
            </a:r>
            <a:endParaRPr lang="en-US" sz="2600" dirty="0"/>
          </a:p>
        </p:txBody>
      </p:sp>
      <p:pic>
        <p:nvPicPr>
          <p:cNvPr id="5" name="Image 0" descr="/home/claude/ndv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88720"/>
            <a:ext cx="64008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1228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A0"/>
                </a:solidFill>
              </a:rPr>
              <a:t>Formula: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766560" y="1554480"/>
            <a:ext cx="2057400" cy="594360"/>
          </a:xfrm>
          <a:prstGeom prst="rect">
            <a:avLst/>
          </a:prstGeom>
          <a:solidFill>
            <a:srgbClr val="16204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12280" y="1581912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0"/>
                </a:solidFill>
              </a:rPr>
              <a:t>NDVI = (NIR − Red)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0D4A0"/>
                </a:solidFill>
              </a:rPr>
              <a:t>         / (NIR + Red)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766560" y="2286000"/>
            <a:ext cx="274320" cy="27432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14032" y="22860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0"/>
                </a:solidFill>
              </a:rPr>
              <a:t>+1.0  </a:t>
            </a:r>
            <a:r>
              <a:rPr lang="en-US" sz="1000" dirty="0">
                <a:solidFill>
                  <a:srgbClr val="CBD5E0"/>
                </a:solidFill>
              </a:rPr>
              <a:t>Dense vegetation (Forest, Crops)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766560" y="2724912"/>
            <a:ext cx="274320" cy="27432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14032" y="2724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627"/>
                </a:solidFill>
              </a:rPr>
              <a:t> 0.0  </a:t>
            </a:r>
            <a:r>
              <a:rPr lang="en-US" sz="1000" dirty="0">
                <a:solidFill>
                  <a:srgbClr val="CBD5E0"/>
                </a:solidFill>
              </a:rPr>
              <a:t>Sparse / transitional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766560" y="3163824"/>
            <a:ext cx="274320" cy="2743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14032" y="316382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3E3E"/>
                </a:solidFill>
              </a:rPr>
              <a:t>−1.0  </a:t>
            </a:r>
            <a:r>
              <a:rPr lang="en-US" sz="1000" dirty="0">
                <a:solidFill>
                  <a:srgbClr val="CBD5E0"/>
                </a:solidFill>
              </a:rPr>
              <a:t>Water, roads, urban areas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65760" y="3611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BD5E0"/>
                </a:solidFill>
              </a:rPr>
              <a:t>Using Sentinel-2 Band 7 (NIR) and Band 3 (Red) to compute NDVI, which highlights vegetation density across each satellite patch.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" y="4206240"/>
            <a:ext cx="1572768" cy="640080"/>
          </a:xfrm>
          <a:prstGeom prst="rect">
            <a:avLst/>
          </a:prstGeom>
          <a:solidFill>
            <a:srgbClr val="162040"/>
          </a:solidFill>
          <a:ln w="6350">
            <a:solidFill>
              <a:srgbClr val="00D4A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422452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Forest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65760" y="4517136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A0"/>
                </a:solidFill>
              </a:rPr>
              <a:t>High NDVI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084832" y="4206240"/>
            <a:ext cx="1572768" cy="640080"/>
          </a:xfrm>
          <a:prstGeom prst="rect">
            <a:avLst/>
          </a:prstGeom>
          <a:solidFill>
            <a:srgbClr val="162040"/>
          </a:solidFill>
          <a:ln w="6350">
            <a:solidFill>
              <a:srgbClr val="00D4A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084832" y="422452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HerbaceousVeg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2084832" y="4517136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A0"/>
                </a:solidFill>
              </a:rPr>
              <a:t>High NDVI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803904" y="4206240"/>
            <a:ext cx="1572768" cy="640080"/>
          </a:xfrm>
          <a:prstGeom prst="rect">
            <a:avLst/>
          </a:prstGeom>
          <a:solidFill>
            <a:srgbClr val="162040"/>
          </a:solidFill>
          <a:ln w="6350">
            <a:solidFill>
              <a:srgbClr val="00D4A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803904" y="422452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SeaLake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803904" y="4517136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A0"/>
                </a:solidFill>
              </a:rPr>
              <a:t>Very Low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522976" y="4206240"/>
            <a:ext cx="1572768" cy="640080"/>
          </a:xfrm>
          <a:prstGeom prst="rect">
            <a:avLst/>
          </a:prstGeom>
          <a:solidFill>
            <a:srgbClr val="162040"/>
          </a:solidFill>
          <a:ln w="6350">
            <a:solidFill>
              <a:srgbClr val="00D4A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522976" y="422452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Industrial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522976" y="4517136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A0"/>
                </a:solidFill>
              </a:rPr>
              <a:t>Low NDVI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242048" y="4206240"/>
            <a:ext cx="1572768" cy="640080"/>
          </a:xfrm>
          <a:prstGeom prst="rect">
            <a:avLst/>
          </a:prstGeom>
          <a:solidFill>
            <a:srgbClr val="162040"/>
          </a:solidFill>
          <a:ln w="6350">
            <a:solidFill>
              <a:srgbClr val="00D4A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242048" y="422452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Highway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242048" y="4517136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A0"/>
                </a:solidFill>
              </a:rPr>
              <a:t>Low NDVI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oundRect">
            <a:avLst>
              <a:gd name="adj" fmla="val 35714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3 — PREPROCESSING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</a:rPr>
              <a:t>Data Preprocessing &amp; Augmentation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40"/>
                </a:solidFill>
              </a:rPr>
              <a:t>Transforms Pipeline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572768"/>
            <a:ext cx="1234440" cy="34747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7276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Resize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19072" y="159105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All patches → 64×64 pixels (standardise input size)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084832"/>
            <a:ext cx="1234440" cy="34747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8483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RandomHFlip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19072" y="21031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Horizontal flip (50% probability — augmentation)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596896"/>
            <a:ext cx="1234440" cy="34747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9689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RandomVFlip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19072" y="261518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Vertical flip (50% probability — augmentation)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108960"/>
            <a:ext cx="1234440" cy="34747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10896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ColorJitter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19072" y="31272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Brightness ±20%, Contrast ±20% (robustness)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621024"/>
            <a:ext cx="1234440" cy="34747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62102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ToTensor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19072" y="363931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Convert PIL image → PyTorch float tensor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4133088"/>
            <a:ext cx="1234440" cy="34747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13308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Normalize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19072" y="415137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Mean [0.485, 0.456, 0.406], Std [0.229, 0.224, 0.225]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11704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40"/>
                </a:solidFill>
              </a:rPr>
              <a:t>Dataset Splits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0" y="1572768"/>
            <a:ext cx="393192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1572768"/>
            <a:ext cx="91440" cy="5486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57276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40"/>
                </a:solidFill>
              </a:rPr>
              <a:t>Training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157276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A8E8"/>
                </a:solidFill>
              </a:rPr>
              <a:t>12,960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06640" y="157276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80%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0" y="2231136"/>
            <a:ext cx="393192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2231136"/>
            <a:ext cx="91440" cy="54864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23113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40"/>
                </a:solidFill>
              </a:rPr>
              <a:t>Validation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0" y="2231136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D4A0"/>
                </a:solidFill>
              </a:rPr>
              <a:t>3,240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406640" y="2231136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20%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0" y="2889504"/>
            <a:ext cx="3931920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0" y="2889504"/>
            <a:ext cx="91440" cy="54864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88950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40"/>
                </a:solidFill>
              </a:rPr>
              <a:t>Test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00800" y="2889504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B627"/>
                </a:solidFill>
              </a:rPr>
              <a:t>5,400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406640" y="2889504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held-out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0" y="36576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</a:rPr>
              <a:t>Batch Size: 32  |  Shuffle: True (train)  |  Workers: 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5568"/>
                </a:solidFill>
              </a:rPr>
              <a:t>Note: Test set transforms have NO augmentation — only Resize + Normalize to preserve evaluation integrity.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oundRect">
            <a:avLst>
              <a:gd name="adj" fmla="val 35714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6 — MODEL BUILDING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ResNet-18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261872" cy="82296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25880"/>
            <a:ext cx="12618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3×64×64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81912" y="1737360"/>
            <a:ext cx="173736" cy="0"/>
          </a:xfrm>
          <a:prstGeom prst="line">
            <a:avLst/>
          </a:prstGeom>
          <a:noFill/>
          <a:ln w="19050">
            <a:solidFill>
              <a:srgbClr val="CBD5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55648" y="1325880"/>
            <a:ext cx="1261872" cy="8229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55648" y="1325880"/>
            <a:ext cx="12618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Conv Layer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7×7, stride 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17520" y="1737360"/>
            <a:ext cx="173736" cy="0"/>
          </a:xfrm>
          <a:prstGeom prst="line">
            <a:avLst/>
          </a:prstGeom>
          <a:noFill/>
          <a:ln w="1905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91256" y="1325880"/>
            <a:ext cx="1261872" cy="822960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91256" y="1325880"/>
            <a:ext cx="12618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ResNet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Blocks 1-4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53128" y="1737360"/>
            <a:ext cx="173736" cy="0"/>
          </a:xfrm>
          <a:prstGeom prst="line">
            <a:avLst/>
          </a:prstGeom>
          <a:noFill/>
          <a:ln w="190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26864" y="1325880"/>
            <a:ext cx="1261872" cy="822960"/>
          </a:xfrm>
          <a:prstGeom prst="rect">
            <a:avLst/>
          </a:prstGeom>
          <a:solidFill>
            <a:srgbClr val="B83280"/>
          </a:solidFill>
          <a:ln w="12700">
            <a:solidFill>
              <a:srgbClr val="B832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1325880"/>
            <a:ext cx="12618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AvgPool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+ Flatten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88736" y="1737360"/>
            <a:ext cx="173736" cy="0"/>
          </a:xfrm>
          <a:prstGeom prst="line">
            <a:avLst/>
          </a:prstGeom>
          <a:noFill/>
          <a:ln w="190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62472" y="1325880"/>
            <a:ext cx="1261872" cy="82296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62472" y="1325880"/>
            <a:ext cx="12618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FC Layer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512 → 10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24344" y="1737360"/>
            <a:ext cx="173736" cy="0"/>
          </a:xfrm>
          <a:prstGeom prst="line">
            <a:avLst/>
          </a:prstGeom>
          <a:noFill/>
          <a:ln w="19050">
            <a:solidFill>
              <a:srgbClr val="CBD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0" y="1325880"/>
            <a:ext cx="1261872" cy="82296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1325880"/>
            <a:ext cx="12618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Softmax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 classes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377440"/>
            <a:ext cx="2743200" cy="502920"/>
          </a:xfrm>
          <a:prstGeom prst="rect">
            <a:avLst/>
          </a:prstGeom>
          <a:solidFill>
            <a:srgbClr val="162040"/>
          </a:solidFill>
          <a:ln w="6350">
            <a:solidFill>
              <a:srgbClr val="00A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2377440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D4A0"/>
                </a:solidFill>
              </a:rPr>
              <a:t>Pretrained: </a:t>
            </a:r>
            <a:r>
              <a:rPr lang="en-US" sz="1150" dirty="0">
                <a:solidFill>
                  <a:srgbClr val="CBD5E0"/>
                </a:solidFill>
              </a:rPr>
              <a:t>ImageNet (1M+ images)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91840" y="2377440"/>
            <a:ext cx="2743200" cy="502920"/>
          </a:xfrm>
          <a:prstGeom prst="rect">
            <a:avLst/>
          </a:prstGeom>
          <a:solidFill>
            <a:srgbClr val="162040"/>
          </a:solidFill>
          <a:ln w="6350">
            <a:solidFill>
              <a:srgbClr val="00A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01568" y="2377440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D4A0"/>
                </a:solidFill>
              </a:rPr>
              <a:t>Modified Layer: </a:t>
            </a:r>
            <a:r>
              <a:rPr lang="en-US" sz="1150" dirty="0">
                <a:solidFill>
                  <a:srgbClr val="CBD5E0"/>
                </a:solidFill>
              </a:rPr>
              <a:t>Final FC: 512 → 10 classes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17920" y="2377440"/>
            <a:ext cx="2743200" cy="502920"/>
          </a:xfrm>
          <a:prstGeom prst="rect">
            <a:avLst/>
          </a:prstGeom>
          <a:solidFill>
            <a:srgbClr val="162040"/>
          </a:solidFill>
          <a:ln w="6350">
            <a:solidFill>
              <a:srgbClr val="00A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7648" y="2377440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D4A0"/>
                </a:solidFill>
              </a:rPr>
              <a:t>Loss Function: </a:t>
            </a:r>
            <a:r>
              <a:rPr lang="en-US" sz="1150" dirty="0">
                <a:solidFill>
                  <a:srgbClr val="CBD5E0"/>
                </a:solidFill>
              </a:rPr>
              <a:t>CrossEntropyLoss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65760" y="3017520"/>
            <a:ext cx="2743200" cy="502920"/>
          </a:xfrm>
          <a:prstGeom prst="rect">
            <a:avLst/>
          </a:prstGeom>
          <a:solidFill>
            <a:srgbClr val="162040"/>
          </a:solidFill>
          <a:ln w="6350">
            <a:solidFill>
              <a:srgbClr val="00A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3017520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D4A0"/>
                </a:solidFill>
              </a:rPr>
              <a:t>Optimizer: </a:t>
            </a:r>
            <a:r>
              <a:rPr lang="en-US" sz="1150" dirty="0">
                <a:solidFill>
                  <a:srgbClr val="CBD5E0"/>
                </a:solidFill>
              </a:rPr>
              <a:t>Adam (lr = 0.001)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91840" y="3017520"/>
            <a:ext cx="2743200" cy="502920"/>
          </a:xfrm>
          <a:prstGeom prst="rect">
            <a:avLst/>
          </a:prstGeom>
          <a:solidFill>
            <a:srgbClr val="162040"/>
          </a:solidFill>
          <a:ln w="6350">
            <a:solidFill>
              <a:srgbClr val="00A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01568" y="3017520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D4A0"/>
                </a:solidFill>
              </a:rPr>
              <a:t>Epochs: </a:t>
            </a:r>
            <a:r>
              <a:rPr lang="en-US" sz="1150" dirty="0">
                <a:solidFill>
                  <a:srgbClr val="CBD5E0"/>
                </a:solidFill>
              </a:rPr>
              <a:t>5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17920" y="3017520"/>
            <a:ext cx="2743200" cy="502920"/>
          </a:xfrm>
          <a:prstGeom prst="rect">
            <a:avLst/>
          </a:prstGeom>
          <a:solidFill>
            <a:srgbClr val="162040"/>
          </a:solidFill>
          <a:ln w="6350">
            <a:solidFill>
              <a:srgbClr val="00A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3017520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D4A0"/>
                </a:solidFill>
              </a:rPr>
              <a:t>Batch Size: </a:t>
            </a:r>
            <a:r>
              <a:rPr lang="en-US" sz="1150" dirty="0">
                <a:solidFill>
                  <a:srgbClr val="CBD5E0"/>
                </a:solidFill>
              </a:rPr>
              <a:t>32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65760" y="38404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BD5E0"/>
                </a:solidFill>
              </a:rPr>
              <a:t>Key Insight: By using ImageNet pretrained weights, the model already understands low-level visual features (edges, textures, shapes). Fine-tuning on EuroSAT teaches it land-use-specific patterns.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oundRect">
            <a:avLst>
              <a:gd name="adj" fmla="val 35714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6 — TRAINING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</a:rPr>
              <a:t>Training Results</a:t>
            </a:r>
            <a:endParaRPr lang="en-US" sz="2600" dirty="0"/>
          </a:p>
        </p:txBody>
      </p:sp>
      <p:pic>
        <p:nvPicPr>
          <p:cNvPr id="5" name="Image 0" descr="/home/claude/trai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43000"/>
            <a:ext cx="5943600" cy="2377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55080" y="11430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Epoch Summary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508760"/>
          <a:ext cx="2468880" cy="20116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Epoch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 Acc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4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40"/>
                          </a:solidFill>
                        </a:rPr>
                        <a:t>85.3%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4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40"/>
                          </a:solidFill>
                        </a:rPr>
                        <a:t>93.4%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4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40"/>
                          </a:solidFill>
                        </a:rPr>
                        <a:t>92.7%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4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40"/>
                          </a:solidFill>
                        </a:rPr>
                        <a:t>92.5%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4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40"/>
                          </a:solidFill>
                        </a:rPr>
                        <a:t>92.6%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365760" y="3657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40"/>
                </a:solidFill>
              </a:rPr>
              <a:t>Key Observations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365760" y="40233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</a:rPr>
              <a:t>Train loss decreases consistently over 5 epochs — confirming model is learning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</a:rPr>
              <a:t>Validation accuracy peaks at ~93.4% in Epoch 2, then stabilises around 92.5%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</a:rPr>
              <a:t>Val loss shows slight oscillation — normal for fine-tuned pretrained models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</a:rPr>
              <a:t>Best model checkpoint saved at Epoch 2 (highest val accuracy)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oundRect">
            <a:avLst>
              <a:gd name="adj" fmla="val 35714"/>
            </a:avLst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7 — EVALUATION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Model Evaluation &amp; Metrics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840480" cy="1417320"/>
          </a:xfrm>
          <a:prstGeom prst="rect">
            <a:avLst/>
          </a:prstGeom>
          <a:solidFill>
            <a:srgbClr val="162040"/>
          </a:solidFill>
          <a:ln w="25400">
            <a:solidFill>
              <a:srgbClr val="00D4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9844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D4A0"/>
                </a:solidFill>
              </a:rPr>
              <a:t>92.89%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Overall Accuracy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6334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BD5E0"/>
                </a:solidFill>
              </a:rPr>
              <a:t>Correctly classified patches out of 5,400 test images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234440"/>
            <a:ext cx="3840480" cy="1417320"/>
          </a:xfrm>
          <a:prstGeom prst="rect">
            <a:avLst/>
          </a:prstGeom>
          <a:solidFill>
            <a:srgbClr val="162040"/>
          </a:solidFill>
          <a:ln w="25400">
            <a:solidFill>
              <a:srgbClr val="FFB6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29844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B627"/>
                </a:solidFill>
              </a:rPr>
              <a:t>0.0711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72000" y="1965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Hamming Loss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26334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BD5E0"/>
                </a:solidFill>
              </a:rPr>
              <a:t>Fraction of labels predicted incorrectly (lower = better)</a:t>
            </a:r>
            <a:endParaRPr lang="en-US" sz="1000" dirty="0"/>
          </a:p>
        </p:txBody>
      </p:sp>
      <p:pic>
        <p:nvPicPr>
          <p:cNvPr id="13" name="Image 0" descr="/home/claude/per_class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63240"/>
            <a:ext cx="850392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oundRect">
            <a:avLst>
              <a:gd name="adj" fmla="val 35714"/>
            </a:avLst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7 — CONFUSION MATRIX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</a:rPr>
              <a:t>Confusion Matrix Analysis</a:t>
            </a:r>
            <a:endParaRPr lang="en-US" sz="2600" dirty="0"/>
          </a:p>
        </p:txBody>
      </p:sp>
      <p:pic>
        <p:nvPicPr>
          <p:cNvPr id="5" name="Image 0" descr="/home/claude/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0"/>
            <a:ext cx="566928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2648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Notable Patterns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80760" y="1508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E8"/>
                </a:solidFill>
              </a:rPr>
              <a:t>SeaLake: </a:t>
            </a:r>
            <a:r>
              <a:rPr lang="en-US" sz="1050" dirty="0">
                <a:solidFill>
                  <a:srgbClr val="1A2340"/>
                </a:solidFill>
              </a:rPr>
              <a:t>99% — nearly perfect, visually very distinct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080760" y="20848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E8"/>
                </a:solidFill>
              </a:rPr>
              <a:t>Industrial: </a:t>
            </a:r>
            <a:r>
              <a:rPr lang="en-US" sz="1050" dirty="0">
                <a:solidFill>
                  <a:srgbClr val="1A2340"/>
                </a:solidFill>
              </a:rPr>
              <a:t>99% — unique dark urban texture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080760" y="26609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E8"/>
                </a:solidFill>
              </a:rPr>
              <a:t>AnnualCrop: </a:t>
            </a:r>
            <a:r>
              <a:rPr lang="en-US" sz="1050" dirty="0">
                <a:solidFill>
                  <a:srgbClr val="1A2340"/>
                </a:solidFill>
              </a:rPr>
              <a:t>97% — field patterns easily identified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080760" y="323697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E8"/>
                </a:solidFill>
              </a:rPr>
              <a:t>Residential: </a:t>
            </a:r>
            <a:r>
              <a:rPr lang="en-US" sz="1050" dirty="0">
                <a:solidFill>
                  <a:srgbClr val="1A2340"/>
                </a:solidFill>
              </a:rPr>
              <a:t>88% — confused with Industrial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080760" y="38130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E8"/>
                </a:solidFill>
              </a:rPr>
              <a:t>Highway: </a:t>
            </a:r>
            <a:r>
              <a:rPr lang="en-US" sz="1050" dirty="0">
                <a:solidFill>
                  <a:srgbClr val="1A2340"/>
                </a:solidFill>
              </a:rPr>
              <a:t>89% — thin roads overlap with River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080760" y="4389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E8"/>
                </a:solidFill>
              </a:rPr>
              <a:t>Pasture: </a:t>
            </a:r>
            <a:r>
              <a:rPr lang="en-US" sz="1050" dirty="0">
                <a:solidFill>
                  <a:srgbClr val="1A2340"/>
                </a:solidFill>
              </a:rPr>
              <a:t>91% — confused with HerbVegetation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80760" y="4846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</a:rPr>
              <a:t>Strong diagonal = excellent multi-class discrimination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oundRect">
            <a:avLst>
              <a:gd name="adj" fmla="val 35714"/>
            </a:avLst>
          </a:prstGeom>
          <a:solidFill>
            <a:srgbClr val="9F7AEA"/>
          </a:solidFill>
          <a:ln w="12700">
            <a:solidFill>
              <a:srgbClr val="9F7A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8 — EXPLAINABILITY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Grad-CAM: What the Model Looks At</a:t>
            </a:r>
            <a:endParaRPr lang="en-US" sz="2600" dirty="0"/>
          </a:p>
        </p:txBody>
      </p:sp>
      <p:pic>
        <p:nvPicPr>
          <p:cNvPr id="5" name="Image 0" descr="/home/claude/gradc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43000"/>
            <a:ext cx="502920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40680" y="114300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0"/>
                </a:solidFill>
              </a:rPr>
              <a:t>How Grad-CAM Works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40680" y="1536192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</a:rPr>
              <a:t>Grad-CAM uses gradients flowing into the last convolutional layer to highlight regions most influential in the prediction.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40680" y="2286000"/>
            <a:ext cx="3429000" cy="411480"/>
          </a:xfrm>
          <a:prstGeom prst="rect">
            <a:avLst/>
          </a:prstGeom>
          <a:solidFill>
            <a:srgbClr val="162040"/>
          </a:solidFill>
          <a:ln w="6350">
            <a:solidFill>
              <a:srgbClr val="9F7A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32120" y="230428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F7AEA"/>
                </a:solidFill>
              </a:rPr>
              <a:t>🔴 Red / Warm: </a:t>
            </a:r>
            <a:r>
              <a:rPr lang="en-US" sz="1050" dirty="0">
                <a:solidFill>
                  <a:srgbClr val="CBD5E0"/>
                </a:solidFill>
              </a:rPr>
              <a:t>High attention — model focuses here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40680" y="2788920"/>
            <a:ext cx="3429000" cy="411480"/>
          </a:xfrm>
          <a:prstGeom prst="rect">
            <a:avLst/>
          </a:prstGeom>
          <a:solidFill>
            <a:srgbClr val="162040"/>
          </a:solidFill>
          <a:ln w="6350">
            <a:solidFill>
              <a:srgbClr val="9F7A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32120" y="280720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F7AEA"/>
                </a:solidFill>
              </a:rPr>
              <a:t>🔵 Blue / Cool: </a:t>
            </a:r>
            <a:r>
              <a:rPr lang="en-US" sz="1050" dirty="0">
                <a:solidFill>
                  <a:srgbClr val="CBD5E0"/>
                </a:solidFill>
              </a:rPr>
              <a:t>Low attention — ignored by model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40680" y="3291840"/>
            <a:ext cx="3429000" cy="411480"/>
          </a:xfrm>
          <a:prstGeom prst="rect">
            <a:avLst/>
          </a:prstGeom>
          <a:solidFill>
            <a:srgbClr val="162040"/>
          </a:solidFill>
          <a:ln w="6350">
            <a:solidFill>
              <a:srgbClr val="9F7A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32120" y="331012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F7AEA"/>
                </a:solidFill>
              </a:rPr>
              <a:t>Layer used: </a:t>
            </a:r>
            <a:r>
              <a:rPr lang="en-US" sz="1050" dirty="0">
                <a:solidFill>
                  <a:srgbClr val="CBD5E0"/>
                </a:solidFill>
              </a:rPr>
              <a:t>ResNet-18 layer4[-1]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440680" y="38862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0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40680" y="425196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</a:rPr>
              <a:t>Grad-CAM confirms the model focuses on meaningful visual regions (field boundaries, water edges, road lines) — not background noise.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oundRect">
            <a:avLst>
              <a:gd name="adj" fmla="val 35714"/>
            </a:avLst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7 —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</a:rPr>
              <a:t>Correct vs Wrong Predictions</a:t>
            </a:r>
            <a:endParaRPr lang="en-US" sz="2600" dirty="0"/>
          </a:p>
        </p:txBody>
      </p:sp>
      <p:pic>
        <p:nvPicPr>
          <p:cNvPr id="5" name="Image 0" descr="/home/claude/predi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43000"/>
            <a:ext cx="850392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Analysis of Misclassifications: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46227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</a:rPr>
              <a:t>AnnualCrop patches containing water channels are misclassified as River or SeaLake — </a:t>
            </a:r>
            <a:r>
              <a:rPr lang="en-US" sz="1100" b="1" dirty="0">
                <a:solidFill>
                  <a:srgbClr val="E53E3E"/>
                </a:solidFill>
              </a:rPr>
              <a:t>the blue channel dominates.</a:t>
            </a:r>
            <a:r>
              <a:rPr lang="en-US" sz="1100" dirty="0">
                <a:solidFill>
                  <a:srgbClr val="1A2340"/>
                </a:solidFill>
              </a:rPr>
              <a:t>  This is expected, since RGB-only data lacks the NIR channel that would distinguish vegetation from water more precisely.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oundRect">
            <a:avLst>
              <a:gd name="adj" fmla="val 35714"/>
            </a:avLst>
          </a:prstGeom>
          <a:solidFill>
            <a:srgbClr val="9F7AEA"/>
          </a:solidFill>
          <a:ln w="12700">
            <a:solidFill>
              <a:srgbClr val="9F7A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9 — DEPLOYMENT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Streamlit Live Deployment</a:t>
            </a:r>
            <a:endParaRPr lang="en-US" sz="2600" dirty="0"/>
          </a:p>
        </p:txBody>
      </p:sp>
      <p:pic>
        <p:nvPicPr>
          <p:cNvPr id="5" name="Image 0" descr="/home/claude/streamlit_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43000"/>
            <a:ext cx="594360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55080" y="1188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0"/>
                </a:solidFill>
              </a:rPr>
              <a:t>🔗 Live URL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309360" y="1554480"/>
            <a:ext cx="2514600" cy="594360"/>
          </a:xfrm>
          <a:prstGeom prst="rect">
            <a:avLst/>
          </a:prstGeom>
          <a:solidFill>
            <a:srgbClr val="16204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55080" y="157276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D4A0"/>
                </a:solidFill>
              </a:rPr>
              <a:t>satellite-scene-classification-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D4A0"/>
                </a:solidFill>
              </a:rPr>
              <a:t>4remxga6jkwsfybr79ivjq.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D4A0"/>
                </a:solidFill>
              </a:rPr>
              <a:t>streamlit.app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309360" y="228600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 Features: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09360" y="2633472"/>
            <a:ext cx="201168" cy="201168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65392" y="263347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</a:rPr>
              <a:t>Upload any satellite image patch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309360" y="3035808"/>
            <a:ext cx="201168" cy="201168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65392" y="3035808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</a:rPr>
              <a:t>Top-3 class predictions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309360" y="3438144"/>
            <a:ext cx="201168" cy="201168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65392" y="3438144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</a:rPr>
              <a:t>Confidence percentages shown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309360" y="3840480"/>
            <a:ext cx="201168" cy="201168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65392" y="384048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</a:rPr>
              <a:t>Instant classification result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309360" y="4242816"/>
            <a:ext cx="201168" cy="201168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65392" y="424281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</a:rPr>
              <a:t>Model loads from Google Drive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309360" y="466344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627"/>
                </a:solidFill>
              </a:rPr>
              <a:t>Tech Stack: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09360" y="491947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0"/>
                </a:solidFill>
              </a:rPr>
              <a:t>Streamlit • PyTorch • ResNet-18 • gdown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63040" cy="256032"/>
          </a:xfrm>
          <a:prstGeom prst="roundRect">
            <a:avLst>
              <a:gd name="adj" fmla="val 35714"/>
            </a:avLst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REFERENCES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40"/>
                </a:solidFill>
              </a:rPr>
              <a:t>Literature Review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" cy="105156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411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1234440"/>
            <a:ext cx="7955280" cy="1051560"/>
          </a:xfrm>
          <a:prstGeom prst="rect">
            <a:avLst/>
          </a:prstGeom>
          <a:solidFill>
            <a:srgbClr val="F4F7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280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340"/>
                </a:solidFill>
              </a:rPr>
              <a:t>EuroSAT: A Novel Dataset and Deep Learning Benchmark for Land Use and Land Cover Classification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05840" y="1581912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A8E8"/>
                </a:solidFill>
              </a:rPr>
              <a:t>Helber et al., 2019 — IEEE Journal of Selected Topics in Applied Earth Observations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05840" y="180136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Introduced the EuroSAT dataset. Demonstrated that CNNs outperform traditional remote sensing methods. Achieved 98.57% accuracy on RGB images using ResNet-50, establishing the benchmark we are working against.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496312"/>
            <a:ext cx="411480" cy="105156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96312"/>
            <a:ext cx="411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8680" y="2496312"/>
            <a:ext cx="7955280" cy="1051560"/>
          </a:xfrm>
          <a:prstGeom prst="rect">
            <a:avLst/>
          </a:prstGeom>
          <a:solidFill>
            <a:srgbClr val="F4F7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54203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340"/>
                </a:solidFill>
              </a:rPr>
              <a:t>Deep Residual Learning for Image Recognition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05840" y="2843784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D4A0"/>
                </a:solidFill>
              </a:rPr>
              <a:t>He et al., 2016 — IEEE CVPR (Highly Cited)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05840" y="3063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Introduced ResNet with skip connections that solve the vanishing gradient problem. ResNet-18 has 18 layers and ~11M parameters. The skip connections allow gradients to flow directly, enabling effective training of deeper networks.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758184"/>
            <a:ext cx="411480" cy="1051560"/>
          </a:xfrm>
          <a:prstGeom prst="rect">
            <a:avLst/>
          </a:prstGeom>
          <a:solidFill>
            <a:srgbClr val="9F7AEA"/>
          </a:solidFill>
          <a:ln w="12700">
            <a:solidFill>
              <a:srgbClr val="9F7A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758184"/>
            <a:ext cx="411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68680" y="3758184"/>
            <a:ext cx="7955280" cy="1051560"/>
          </a:xfrm>
          <a:prstGeom prst="rect">
            <a:avLst/>
          </a:prstGeom>
          <a:solidFill>
            <a:srgbClr val="F4F7F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80390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340"/>
                </a:solidFill>
              </a:rPr>
              <a:t>Grad-CAM: Visual Explanations from Deep Networks via Gradient-based Localization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05840" y="4105656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F7AEA"/>
                </a:solidFill>
              </a:rPr>
              <a:t>Selvaraju et al., 2017 — IEEE ICCV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05840" y="432511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</a:rPr>
              <a:t>Proposed Gradient-weighted Class Activation Mapping. Computes gradient of predicted class w.r.t. final conv layer feature maps to produce class-discriminative localization maps, making predictions interpretable without architectural changes.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Conclusion &amp;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Future Work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11480" y="141732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A0"/>
                </a:solidFill>
              </a:rPr>
              <a:t>Key Achievements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828800"/>
            <a:ext cx="201168" cy="201168"/>
          </a:xfrm>
          <a:prstGeom prst="ellipse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288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</a:rPr>
              <a:t>92.89% test accuracy on EuroSAT with ResNet-18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2267712"/>
            <a:ext cx="201168" cy="201168"/>
          </a:xfrm>
          <a:prstGeom prst="ellipse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6771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</a:rPr>
              <a:t>Hamming Loss of only 0.0711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706624"/>
            <a:ext cx="201168" cy="201168"/>
          </a:xfrm>
          <a:prstGeom prst="ellipse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70662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</a:rPr>
              <a:t>SeaLake class: 99% accuracy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3145536"/>
            <a:ext cx="201168" cy="201168"/>
          </a:xfrm>
          <a:prstGeom prst="ellipse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14553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</a:rPr>
              <a:t>Grad-CAM confirms model interpretability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584448"/>
            <a:ext cx="201168" cy="201168"/>
          </a:xfrm>
          <a:prstGeom prst="ellipse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5844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</a:rPr>
              <a:t>Live Streamlit deployment with real-time inference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4023360"/>
            <a:ext cx="201168" cy="201168"/>
          </a:xfrm>
          <a:prstGeom prst="ellipse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0233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</a:rPr>
              <a:t>Collaborative GitHub workflow with equal contributions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1417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627"/>
                </a:solidFill>
              </a:rPr>
              <a:t>Future Work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937760" y="1828800"/>
            <a:ext cx="3657600" cy="475488"/>
          </a:xfrm>
          <a:prstGeom prst="rect">
            <a:avLst/>
          </a:prstGeom>
          <a:solidFill>
            <a:srgbClr val="162040"/>
          </a:solidFill>
          <a:ln w="6350">
            <a:solidFill>
              <a:srgbClr val="FFB6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182880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627"/>
                </a:solidFill>
              </a:rPr>
              <a:t>Use all 13 Sentinel-2 bands — </a:t>
            </a:r>
            <a:r>
              <a:rPr lang="en-US" sz="1050" dirty="0">
                <a:solidFill>
                  <a:srgbClr val="CBD5E0"/>
                </a:solidFill>
              </a:rPr>
              <a:t>RGB only misses NIR data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37760" y="2395728"/>
            <a:ext cx="3657600" cy="475488"/>
          </a:xfrm>
          <a:prstGeom prst="rect">
            <a:avLst/>
          </a:prstGeom>
          <a:solidFill>
            <a:srgbClr val="162040"/>
          </a:solidFill>
          <a:ln w="6350">
            <a:solidFill>
              <a:srgbClr val="FFB6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239572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627"/>
                </a:solidFill>
              </a:rPr>
              <a:t>Try EfficientNet / ViT — </a:t>
            </a:r>
            <a:r>
              <a:rPr lang="en-US" sz="1050" dirty="0">
                <a:solidFill>
                  <a:srgbClr val="CBD5E0"/>
                </a:solidFill>
              </a:rPr>
              <a:t>Higher accuracy potential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37760" y="2962656"/>
            <a:ext cx="3657600" cy="475488"/>
          </a:xfrm>
          <a:prstGeom prst="rect">
            <a:avLst/>
          </a:prstGeom>
          <a:solidFill>
            <a:srgbClr val="162040"/>
          </a:solidFill>
          <a:ln w="6350">
            <a:solidFill>
              <a:srgbClr val="FFB6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2962656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627"/>
                </a:solidFill>
              </a:rPr>
              <a:t>BigEarthNet multi-label — </a:t>
            </a:r>
            <a:r>
              <a:rPr lang="en-US" sz="1050" dirty="0">
                <a:solidFill>
                  <a:srgbClr val="CBD5E0"/>
                </a:solidFill>
              </a:rPr>
              <a:t>Multi-label classification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37760" y="3529584"/>
            <a:ext cx="3657600" cy="475488"/>
          </a:xfrm>
          <a:prstGeom prst="rect">
            <a:avLst/>
          </a:prstGeom>
          <a:solidFill>
            <a:srgbClr val="162040"/>
          </a:solidFill>
          <a:ln w="6350">
            <a:solidFill>
              <a:srgbClr val="FFB6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3529584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627"/>
                </a:solidFill>
              </a:rPr>
              <a:t>Real-time satellite feed — </a:t>
            </a:r>
            <a:r>
              <a:rPr lang="en-US" sz="1050" dirty="0">
                <a:solidFill>
                  <a:srgbClr val="CBD5E0"/>
                </a:solidFill>
              </a:rPr>
              <a:t>Live environmental monitoring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37760" y="4096512"/>
            <a:ext cx="3657600" cy="475488"/>
          </a:xfrm>
          <a:prstGeom prst="rect">
            <a:avLst/>
          </a:prstGeom>
          <a:solidFill>
            <a:srgbClr val="162040"/>
          </a:solidFill>
          <a:ln w="6350">
            <a:solidFill>
              <a:srgbClr val="FFB6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4096512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627"/>
                </a:solidFill>
              </a:rPr>
              <a:t>Explainability for all classes — </a:t>
            </a:r>
            <a:r>
              <a:rPr lang="en-US" sz="1050" dirty="0">
                <a:solidFill>
                  <a:srgbClr val="CBD5E0"/>
                </a:solidFill>
              </a:rPr>
              <a:t>Full Grad-CAM coverage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1480" y="4754880"/>
            <a:ext cx="8321040" cy="0"/>
          </a:xfrm>
          <a:prstGeom prst="line">
            <a:avLst/>
          </a:prstGeom>
          <a:noFill/>
          <a:ln w="12700">
            <a:solidFill>
              <a:srgbClr val="00A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81888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0"/>
                </a:solidFill>
              </a:rPr>
              <a:t>fidalgovind  |  Adithyan Biju  |  Archana T  —  Predictive Analytics Course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1242</Words>
  <Application>Microsoft Office PowerPoint</Application>
  <PresentationFormat>On-screen Show (16:9)</PresentationFormat>
  <Paragraphs>280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Satellite Scene Classification</dc:title>
  <dc:subject>PptxGenJS Presentation</dc:subject>
  <dc:creator>fidalgovind | Adithyan Biju | Archana T</dc:creator>
  <cp:lastModifiedBy>fidallgovind@gmail.com</cp:lastModifiedBy>
  <cp:revision>2</cp:revision>
  <dcterms:created xsi:type="dcterms:W3CDTF">2026-05-03T18:08:01Z</dcterms:created>
  <dcterms:modified xsi:type="dcterms:W3CDTF">2026-05-04T13:49:37Z</dcterms:modified>
</cp:coreProperties>
</file>